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69" r:id="rId4"/>
    <p:sldId id="263" r:id="rId5"/>
    <p:sldId id="262" r:id="rId6"/>
    <p:sldId id="266" r:id="rId7"/>
    <p:sldId id="276" r:id="rId8"/>
    <p:sldId id="272" r:id="rId9"/>
    <p:sldId id="278" r:id="rId10"/>
    <p:sldId id="270" r:id="rId11"/>
    <p:sldId id="275" r:id="rId12"/>
    <p:sldId id="277" r:id="rId13"/>
    <p:sldId id="274" r:id="rId14"/>
    <p:sldId id="264" r:id="rId15"/>
    <p:sldId id="267" r:id="rId16"/>
    <p:sldId id="281" r:id="rId17"/>
    <p:sldId id="282" r:id="rId18"/>
    <p:sldId id="257" r:id="rId19"/>
    <p:sldId id="258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C6EF-4948-1F1F-27F3-ABC163F8D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81E7-7D16-E3AC-4763-957EB2EF7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21C18-2F89-F5A0-DBE5-E23C1CF8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1C729-2DC9-73EB-29E1-792C07088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16F17-A7C8-B782-E290-31787075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85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BF92-9806-0DCF-BA5E-5ECA4E1D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A8F6-4947-C414-546A-0196213D5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2A2F0-EFCD-8F98-FC5B-AAC7B7AD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32DE-F4EC-C85F-AB52-EADAB66D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5813-2C19-9F11-5A4C-5005FD56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80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1D236-DA1F-9910-9987-E5711EBE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059F1-E077-CFC2-3CAE-DFE77971A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C0E61-932E-3C01-690F-8DA85F98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6BB3B-78FD-FB9C-9863-D95D0047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A6C56-5413-D0F7-7596-7610F1A1E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0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A02F-D321-0033-B8BB-F8B6BEAE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97558-86C3-CAAD-BE8F-03492C824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F850F-4DAD-5150-8D77-FE9CFD75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0FD81-F34F-DBDF-E75B-690C737F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052AB-C287-4972-909D-9F716EA7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8C104-0EB7-EAB2-523B-5D5B497F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7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0F2D-85C0-E9F6-7026-E094CB89F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4A521-8E80-CA8F-B6FA-B0FABB7D7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06289-EFCD-99DF-E424-30B5BFA5F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97C95D-7073-8BCB-39ED-186C14C89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F23AA-6B5C-D2B1-8C36-B270BA278A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81990F-2812-50FA-2CBD-D5C02D8B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C31868-8010-1816-1B8F-84245BD4F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AD37C6-8351-FD26-078C-4904CE4A9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5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4FC2-F3BA-0E3C-C060-F58679B6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4B061-7473-A059-4C76-2CF0B70C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59C41C-E041-933B-B2F2-B1354A81D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0AC77-0CE1-2776-713C-57FBE20B9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9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F130B-4534-EBBB-05A5-F8F7CC442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88A3C-B672-315B-866B-9BC68CC8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BB2CE-82DA-48CF-B995-341C0613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0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7FCD-E694-672E-A2E7-9FD5096C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01A7-1458-00ED-5EB2-6FBAB89A2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A2192-4EBE-48D5-1239-042F63794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1C6AC-B8CB-4CD3-8369-98637488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AA6CD-9F92-AB84-E4D3-A71634B9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46D0A-AB80-D6D9-1DBB-CEA0F0B7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671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C9EF5-748B-4392-83B9-93C9EA00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154BE8-FB48-CB33-16C6-96C7B6A82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058E7-DA69-1E1B-F926-989477E5C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68888-D6EA-CAFF-CB6C-4100ABBE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E8FBD-38E3-7FBB-5AA6-F6AB6E8F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AB9C8-49BB-BE36-39C0-A88EE38C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3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FB744-C648-0B12-B706-A753155E6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FAABB-334E-ECC5-E99A-497199F35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61437-9380-4D87-DAA1-7CC2F3F4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14D46-8338-F943-DB97-DF57E3BC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7A987-C69A-BC9F-EF9A-4EF6C423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72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AAD8BD-6D3F-9585-3C98-330B833FF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6C875F-0FF5-C7C8-AD82-D8BD21FF2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666DF-37E0-FECB-D498-88443693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8475C-0CA8-BE79-4758-4541137C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6091F-189D-6180-8945-C3B164D6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3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8845D-AA39-323F-53B5-DCC067728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215C3-E20C-800A-B6BA-13118FEE0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5891C-1CA0-45AB-B7BE-0C4712CA1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160D2-449E-4696-95A4-4157F61908A0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3F2E3-DADA-397E-A526-5C6AE0DAF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E1DA9-AEEC-9AAF-8922-5A66C4BFA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9BEB5-3E27-4FA4-B948-23C1CEE65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5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56405-A148-FE6F-91F5-6FEF96010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ZEMI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8D96B-4D3D-6034-D193-279FAC7AED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625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62443-47FF-1AE7-74AB-3A967392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мы</a:t>
            </a:r>
            <a:r>
              <a:rPr lang="en-US" dirty="0"/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7F9658-69A4-FD64-FD8E-B4BFE5B51C9F}"/>
              </a:ext>
            </a:extLst>
          </p:cNvPr>
          <p:cNvSpPr/>
          <p:nvPr/>
        </p:nvSpPr>
        <p:spPr>
          <a:xfrm>
            <a:off x="185857" y="2297151"/>
            <a:ext cx="9445082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Формулировка задачи </a:t>
            </a:r>
            <a:r>
              <a:rPr lang="en-US" dirty="0"/>
              <a:t>(</a:t>
            </a:r>
            <a:r>
              <a:rPr lang="ru-RU" dirty="0"/>
              <a:t>продуктовый вижин от меня + тесты от Кирилла К</a:t>
            </a:r>
            <a:r>
              <a:rPr lang="en-US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115511-960E-C802-A933-8C22B3E3DF59}"/>
              </a:ext>
            </a:extLst>
          </p:cNvPr>
          <p:cNvSpPr/>
          <p:nvPr/>
        </p:nvSpPr>
        <p:spPr>
          <a:xfrm>
            <a:off x="962719" y="2994102"/>
            <a:ext cx="8694237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Подготовка среды (</a:t>
            </a:r>
            <a:r>
              <a:rPr lang="en-US" dirty="0" err="1"/>
              <a:t>AxomaBox</a:t>
            </a:r>
            <a:r>
              <a:rPr lang="en-US" dirty="0"/>
              <a:t> + </a:t>
            </a:r>
            <a:r>
              <a:rPr lang="en-US" dirty="0" err="1"/>
              <a:t>SandBox</a:t>
            </a:r>
            <a:r>
              <a:rPr lang="en-US" dirty="0"/>
              <a:t> + (</a:t>
            </a:r>
            <a:r>
              <a:rPr lang="en-US" dirty="0" err="1"/>
              <a:t>VScode+WinPython</a:t>
            </a:r>
            <a:r>
              <a:rPr lang="en-US" dirty="0"/>
              <a:t>) + </a:t>
            </a:r>
            <a:r>
              <a:rPr lang="ru-RU" dirty="0"/>
              <a:t>Выбор и провижининг Инструментов +  </a:t>
            </a:r>
            <a:r>
              <a:rPr lang="en-US" dirty="0"/>
              <a:t>Platform</a:t>
            </a:r>
            <a:r>
              <a:rPr lang="ru-RU" dirty="0"/>
              <a:t> 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65B5BD-6069-92E7-48EC-1B62F8EA6F01}"/>
              </a:ext>
            </a:extLst>
          </p:cNvPr>
          <p:cNvSpPr/>
          <p:nvPr/>
        </p:nvSpPr>
        <p:spPr>
          <a:xfrm>
            <a:off x="1631793" y="3691053"/>
            <a:ext cx="8025163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Эксперименты по созданию продукта (Тесты+Видение от Кирилла К)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FE96-CAE1-2695-ECA2-8401331F8870}"/>
              </a:ext>
            </a:extLst>
          </p:cNvPr>
          <p:cNvSpPr/>
          <p:nvPr/>
        </p:nvSpPr>
        <p:spPr>
          <a:xfrm>
            <a:off x="2174488" y="4419069"/>
            <a:ext cx="7482468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Создание продукта и попытки внедрения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96CD9B-9F0E-D3B0-0917-3962D766A461}"/>
              </a:ext>
            </a:extLst>
          </p:cNvPr>
          <p:cNvSpPr txBox="1"/>
          <p:nvPr/>
        </p:nvSpPr>
        <p:spPr>
          <a:xfrm>
            <a:off x="10292576" y="2442325"/>
            <a:ext cx="16875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Дорогая </a:t>
            </a:r>
            <a:r>
              <a:rPr lang="en-US" dirty="0">
                <a:solidFill>
                  <a:srgbClr val="FF0000"/>
                </a:solidFill>
              </a:rPr>
              <a:t>reusable </a:t>
            </a:r>
            <a:r>
              <a:rPr lang="ru-RU" dirty="0">
                <a:solidFill>
                  <a:srgbClr val="FF0000"/>
                </a:solidFill>
              </a:rPr>
              <a:t>часть не только для </a:t>
            </a:r>
            <a:r>
              <a:rPr lang="en-US" dirty="0">
                <a:solidFill>
                  <a:srgbClr val="FF0000"/>
                </a:solidFill>
              </a:rPr>
              <a:t>ZEMI </a:t>
            </a:r>
            <a:r>
              <a:rPr lang="ru-RU" dirty="0">
                <a:solidFill>
                  <a:srgbClr val="FF0000"/>
                </a:solidFill>
              </a:rPr>
              <a:t>а для </a:t>
            </a:r>
            <a:r>
              <a:rPr lang="en-US" dirty="0">
                <a:solidFill>
                  <a:srgbClr val="FF0000"/>
                </a:solidFill>
              </a:rPr>
              <a:t>AXOMA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860458-7226-8DC8-BF31-B6DA6707157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9656956" y="3180989"/>
            <a:ext cx="635620" cy="4171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311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9694A-F2E2-3D91-65A1-C98656221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Зачем</a:t>
            </a:r>
            <a:r>
              <a:rPr lang="en-US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D6650-F734-6FD6-134E-CA2390701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Много времени на </a:t>
            </a:r>
            <a:r>
              <a:rPr lang="ru-RU" b="1" dirty="0">
                <a:solidFill>
                  <a:schemeClr val="accent2"/>
                </a:solidFill>
              </a:rPr>
              <a:t>настройку инструментов</a:t>
            </a:r>
          </a:p>
          <a:p>
            <a:pPr lvl="1"/>
            <a:r>
              <a:rPr lang="en-US" dirty="0"/>
              <a:t>VM</a:t>
            </a:r>
            <a:r>
              <a:rPr lang="ru-RU" dirty="0"/>
              <a:t>(</a:t>
            </a:r>
            <a:r>
              <a:rPr lang="en-US" dirty="0" err="1"/>
              <a:t>VScode</a:t>
            </a:r>
            <a:r>
              <a:rPr lang="en-US" dirty="0"/>
              <a:t> + </a:t>
            </a:r>
            <a:r>
              <a:rPr lang="en-US" dirty="0" err="1"/>
              <a:t>WinPython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Подготовка папки </a:t>
            </a:r>
            <a:r>
              <a:rPr lang="en-US" dirty="0"/>
              <a:t>ZEMI</a:t>
            </a:r>
            <a:endParaRPr lang="ru-RU" dirty="0"/>
          </a:p>
          <a:p>
            <a:pPr lvl="1"/>
            <a:r>
              <a:rPr lang="ru-RU" dirty="0"/>
              <a:t>Создание нового типового проекта</a:t>
            </a:r>
          </a:p>
          <a:p>
            <a:pPr lvl="1"/>
            <a:r>
              <a:rPr lang="ru-RU" dirty="0"/>
              <a:t>Скачивание </a:t>
            </a:r>
            <a:r>
              <a:rPr lang="en-US" dirty="0"/>
              <a:t>llama + </a:t>
            </a:r>
            <a:r>
              <a:rPr lang="ru-RU" dirty="0"/>
              <a:t>модели</a:t>
            </a:r>
          </a:p>
          <a:p>
            <a:r>
              <a:rPr lang="en-US" b="1" dirty="0">
                <a:solidFill>
                  <a:schemeClr val="accent2"/>
                </a:solidFill>
              </a:rPr>
              <a:t>Boilerplate </a:t>
            </a:r>
            <a:r>
              <a:rPr lang="ru-RU" b="1" dirty="0">
                <a:solidFill>
                  <a:schemeClr val="accent2"/>
                </a:solidFill>
              </a:rPr>
              <a:t>код</a:t>
            </a:r>
          </a:p>
          <a:p>
            <a:pPr lvl="1"/>
            <a:r>
              <a:rPr lang="ru-RU" dirty="0"/>
              <a:t>Запуск остановка </a:t>
            </a:r>
            <a:r>
              <a:rPr lang="en-US" dirty="0"/>
              <a:t>llama.cpp</a:t>
            </a:r>
            <a:r>
              <a:rPr lang="ru-RU" dirty="0"/>
              <a:t> и модели</a:t>
            </a:r>
            <a:endParaRPr lang="en-US" dirty="0"/>
          </a:p>
          <a:p>
            <a:pPr lvl="1"/>
            <a:r>
              <a:rPr lang="ru-RU" dirty="0"/>
              <a:t>Обращение к путям папки </a:t>
            </a:r>
            <a:r>
              <a:rPr lang="en-US" dirty="0"/>
              <a:t>ZEMI</a:t>
            </a:r>
            <a:endParaRPr lang="ru-RU" dirty="0"/>
          </a:p>
          <a:p>
            <a:pPr lvl="1"/>
            <a:r>
              <a:rPr lang="ru-RU" dirty="0"/>
              <a:t>Конвертация </a:t>
            </a:r>
            <a:r>
              <a:rPr lang="en-US" dirty="0"/>
              <a:t>excels (HTML/md/</a:t>
            </a:r>
            <a:r>
              <a:rPr lang="en-US" dirty="0" err="1"/>
              <a:t>duck.db</a:t>
            </a:r>
            <a:r>
              <a:rPr lang="en-US" dirty="0"/>
              <a:t>?) </a:t>
            </a:r>
            <a:endParaRPr lang="ru-RU" dirty="0"/>
          </a:p>
          <a:p>
            <a:pPr lvl="1"/>
            <a:r>
              <a:rPr lang="ru-RU" dirty="0"/>
              <a:t>Форматирование сообщений для модели</a:t>
            </a:r>
            <a:endParaRPr lang="en-US" dirty="0"/>
          </a:p>
          <a:p>
            <a:r>
              <a:rPr lang="ru-RU" b="1" dirty="0"/>
              <a:t>Затраты на </a:t>
            </a:r>
            <a:r>
              <a:rPr lang="en-US" b="1" dirty="0"/>
              <a:t>Dev/Prod </a:t>
            </a:r>
            <a:r>
              <a:rPr lang="ru-RU" b="1" dirty="0"/>
              <a:t>и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CI/</a:t>
            </a:r>
            <a:r>
              <a:rPr lang="ru-RU" b="1" dirty="0">
                <a:solidFill>
                  <a:schemeClr val="accent2"/>
                </a:solidFill>
              </a:rPr>
              <a:t>С</a:t>
            </a:r>
            <a:r>
              <a:rPr lang="en-US" b="1" dirty="0">
                <a:solidFill>
                  <a:schemeClr val="accent2"/>
                </a:solidFill>
              </a:rPr>
              <a:t>D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006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3E59-51EB-1DB0-C091-AB05AC8B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679" y="235663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AI Platform</a:t>
            </a:r>
          </a:p>
        </p:txBody>
      </p:sp>
    </p:spTree>
    <p:extLst>
      <p:ext uri="{BB962C8B-B14F-4D97-AF65-F5344CB8AC3E}">
        <p14:creationId xmlns:p14="http://schemas.microsoft.com/office/powerpoint/2010/main" val="107823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809B-A3F8-233D-90F6-0957AFC1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4182B6-48D1-442F-5E2E-ADA51C01F8FE}"/>
              </a:ext>
            </a:extLst>
          </p:cNvPr>
          <p:cNvSpPr/>
          <p:nvPr/>
        </p:nvSpPr>
        <p:spPr>
          <a:xfrm>
            <a:off x="602429" y="1301675"/>
            <a:ext cx="7584140" cy="187596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r>
              <a:rPr lang="en-US" sz="2400" b="1" dirty="0">
                <a:solidFill>
                  <a:schemeClr val="tx2"/>
                </a:solidFill>
              </a:rPr>
              <a:t>Pipeline</a:t>
            </a: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r>
              <a:rPr lang="en-US" dirty="0"/>
              <a:t>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E64869-0C27-B51C-779A-E796D563BE4B}"/>
              </a:ext>
            </a:extLst>
          </p:cNvPr>
          <p:cNvSpPr/>
          <p:nvPr/>
        </p:nvSpPr>
        <p:spPr>
          <a:xfrm>
            <a:off x="645460" y="3787768"/>
            <a:ext cx="7723990" cy="2093976"/>
          </a:xfrm>
          <a:prstGeom prst="roundRect">
            <a:avLst>
              <a:gd name="adj" fmla="val 96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Platform – c</a:t>
            </a:r>
            <a:r>
              <a:rPr lang="ru-RU" dirty="0"/>
              <a:t>редство разработки</a:t>
            </a:r>
            <a:r>
              <a:rPr lang="en-US" dirty="0"/>
              <a:t>, </a:t>
            </a:r>
            <a:r>
              <a:rPr lang="ru-RU" dirty="0"/>
              <a:t>запуска </a:t>
            </a:r>
            <a:r>
              <a:rPr lang="en-US" dirty="0"/>
              <a:t>ML pipelines </a:t>
            </a:r>
            <a:r>
              <a:rPr lang="ru-RU" dirty="0"/>
              <a:t>в </a:t>
            </a:r>
            <a:r>
              <a:rPr lang="en-US" dirty="0"/>
              <a:t>dev </a:t>
            </a:r>
            <a:r>
              <a:rPr lang="ru-RU" dirty="0"/>
              <a:t>и </a:t>
            </a:r>
            <a:r>
              <a:rPr lang="en-US" dirty="0"/>
              <a:t>prod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07FEAC-B25C-41CC-955B-65033C5C844C}"/>
              </a:ext>
            </a:extLst>
          </p:cNvPr>
          <p:cNvSpPr/>
          <p:nvPr/>
        </p:nvSpPr>
        <p:spPr>
          <a:xfrm>
            <a:off x="1124175" y="1737994"/>
            <a:ext cx="1024128" cy="8138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D9998A-4B11-8FB5-89DB-D815F8896567}"/>
              </a:ext>
            </a:extLst>
          </p:cNvPr>
          <p:cNvSpPr/>
          <p:nvPr/>
        </p:nvSpPr>
        <p:spPr>
          <a:xfrm>
            <a:off x="3995391" y="1737994"/>
            <a:ext cx="1024128" cy="8138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B96B0F-BBBF-56BB-2E1B-E436ACB43084}"/>
              </a:ext>
            </a:extLst>
          </p:cNvPr>
          <p:cNvSpPr/>
          <p:nvPr/>
        </p:nvSpPr>
        <p:spPr>
          <a:xfrm>
            <a:off x="6603044" y="1737994"/>
            <a:ext cx="1024128" cy="8138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AF14EA-54FC-BFC9-286E-214FC2650B94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148303" y="2144902"/>
            <a:ext cx="184708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76DCF3-E73E-F5E0-00A7-01A885D6A8AC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5019519" y="2144902"/>
            <a:ext cx="158352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F667CF3-6C00-C70D-4422-03F9C7A046A0}"/>
              </a:ext>
            </a:extLst>
          </p:cNvPr>
          <p:cNvSpPr txBox="1"/>
          <p:nvPr/>
        </p:nvSpPr>
        <p:spPr>
          <a:xfrm>
            <a:off x="4915170" y="1830719"/>
            <a:ext cx="1687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</a:t>
            </a:r>
          </a:p>
          <a:p>
            <a:pPr algn="ctr"/>
            <a:r>
              <a:rPr lang="en-US" dirty="0"/>
              <a:t>Structure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2BF318-0699-7FAD-01C4-B7ACE2A9BBDF}"/>
              </a:ext>
            </a:extLst>
          </p:cNvPr>
          <p:cNvSpPr txBox="1"/>
          <p:nvPr/>
        </p:nvSpPr>
        <p:spPr>
          <a:xfrm>
            <a:off x="2328494" y="1821736"/>
            <a:ext cx="1687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</a:t>
            </a:r>
          </a:p>
          <a:p>
            <a:pPr algn="ctr"/>
            <a:r>
              <a:rPr lang="en-US" dirty="0"/>
              <a:t>Structure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049C0C-F525-36BA-F204-F23DAE6AC2B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636239" y="2551810"/>
            <a:ext cx="0" cy="12644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0B500D-A3BF-9904-6731-6A547023BA5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507455" y="2551810"/>
            <a:ext cx="0" cy="12644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A4FF1F6-7FB2-3097-10AD-6439EA6FA7A0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115108" y="2551810"/>
            <a:ext cx="0" cy="12644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0D9ACE7-699D-B972-3CD2-EABB5B47F636}"/>
              </a:ext>
            </a:extLst>
          </p:cNvPr>
          <p:cNvSpPr txBox="1"/>
          <p:nvPr/>
        </p:nvSpPr>
        <p:spPr>
          <a:xfrm>
            <a:off x="1414363" y="3177637"/>
            <a:ext cx="58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Env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5578A0-FB77-A270-7E65-85E3C0D3E40B}"/>
              </a:ext>
            </a:extLst>
          </p:cNvPr>
          <p:cNvSpPr txBox="1"/>
          <p:nvPr/>
        </p:nvSpPr>
        <p:spPr>
          <a:xfrm>
            <a:off x="4214578" y="3195224"/>
            <a:ext cx="58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Env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9C0970-07C5-8D60-BEEB-DE7162AC6701}"/>
              </a:ext>
            </a:extLst>
          </p:cNvPr>
          <p:cNvSpPr txBox="1"/>
          <p:nvPr/>
        </p:nvSpPr>
        <p:spPr>
          <a:xfrm>
            <a:off x="6822231" y="3186455"/>
            <a:ext cx="58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Env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E887B9-4ED3-FD60-DA87-597EAED75F73}"/>
              </a:ext>
            </a:extLst>
          </p:cNvPr>
          <p:cNvSpPr txBox="1"/>
          <p:nvPr/>
        </p:nvSpPr>
        <p:spPr>
          <a:xfrm>
            <a:off x="9154758" y="3957593"/>
            <a:ext cx="27399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Это сводит 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ru-RU" dirty="0">
                <a:solidFill>
                  <a:srgbClr val="FF0000"/>
                </a:solidFill>
              </a:rPr>
              <a:t>С</a:t>
            </a:r>
            <a:r>
              <a:rPr lang="en-US" dirty="0">
                <a:solidFill>
                  <a:srgbClr val="FF0000"/>
                </a:solidFill>
              </a:rPr>
              <a:t>I/CD </a:t>
            </a:r>
            <a:r>
              <a:rPr lang="ru-RU" dirty="0">
                <a:solidFill>
                  <a:srgbClr val="FF0000"/>
                </a:solidFill>
              </a:rPr>
              <a:t>к минимуму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2. </a:t>
            </a:r>
            <a:r>
              <a:rPr lang="ru-RU" dirty="0">
                <a:solidFill>
                  <a:srgbClr val="FF0000"/>
                </a:solidFill>
              </a:rPr>
              <a:t>Настройку инстурментов к минимуму</a:t>
            </a:r>
            <a:br>
              <a:rPr lang="ru-RU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DBB5D25-7FFC-E988-927F-72C326FB973E}"/>
              </a:ext>
            </a:extLst>
          </p:cNvPr>
          <p:cNvSpPr/>
          <p:nvPr/>
        </p:nvSpPr>
        <p:spPr>
          <a:xfrm>
            <a:off x="3459659" y="155055"/>
            <a:ext cx="1958967" cy="8138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Sinara</a:t>
            </a:r>
            <a:r>
              <a:rPr lang="en-US" dirty="0"/>
              <a:t> LIB + Step template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65B0002-5BE6-2058-0D65-0FF6767DBFC5}"/>
              </a:ext>
            </a:extLst>
          </p:cNvPr>
          <p:cNvCxnSpPr>
            <a:cxnSpLocks/>
          </p:cNvCxnSpPr>
          <p:nvPr/>
        </p:nvCxnSpPr>
        <p:spPr>
          <a:xfrm flipH="1">
            <a:off x="1636239" y="849854"/>
            <a:ext cx="1778776" cy="9808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4ACAC65-CB9E-5ED9-D83F-D76DB37621EC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4507455" y="976256"/>
            <a:ext cx="0" cy="76173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BBD0F52-17ED-B543-C6A9-9CA224FE8A33}"/>
              </a:ext>
            </a:extLst>
          </p:cNvPr>
          <p:cNvCxnSpPr>
            <a:cxnSpLocks/>
          </p:cNvCxnSpPr>
          <p:nvPr/>
        </p:nvCxnSpPr>
        <p:spPr>
          <a:xfrm>
            <a:off x="5292762" y="968871"/>
            <a:ext cx="1723018" cy="8528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7E7F271-4703-6432-D480-E27C3693568D}"/>
              </a:ext>
            </a:extLst>
          </p:cNvPr>
          <p:cNvSpPr txBox="1"/>
          <p:nvPr/>
        </p:nvSpPr>
        <p:spPr>
          <a:xfrm>
            <a:off x="1880708" y="982070"/>
            <a:ext cx="168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E1DEFC-D128-DB66-09E6-6688384BA45E}"/>
              </a:ext>
            </a:extLst>
          </p:cNvPr>
          <p:cNvSpPr txBox="1"/>
          <p:nvPr/>
        </p:nvSpPr>
        <p:spPr>
          <a:xfrm>
            <a:off x="5019519" y="961754"/>
            <a:ext cx="168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5B2F10D-CCBE-4663-27A4-F799B1DE92AF}"/>
              </a:ext>
            </a:extLst>
          </p:cNvPr>
          <p:cNvCxnSpPr>
            <a:cxnSpLocks/>
            <a:stCxn id="4" idx="3"/>
            <a:endCxn id="37" idx="1"/>
          </p:cNvCxnSpPr>
          <p:nvPr/>
        </p:nvCxnSpPr>
        <p:spPr>
          <a:xfrm>
            <a:off x="8369450" y="4834756"/>
            <a:ext cx="785308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56A6E4-8939-1895-31D5-B794CCFC0067}"/>
              </a:ext>
            </a:extLst>
          </p:cNvPr>
          <p:cNvCxnSpPr>
            <a:cxnSpLocks/>
          </p:cNvCxnSpPr>
          <p:nvPr/>
        </p:nvCxnSpPr>
        <p:spPr>
          <a:xfrm>
            <a:off x="5418626" y="561963"/>
            <a:ext cx="3736132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A1922C-914B-890D-2003-E62D98EA7AF3}"/>
              </a:ext>
            </a:extLst>
          </p:cNvPr>
          <p:cNvSpPr txBox="1"/>
          <p:nvPr/>
        </p:nvSpPr>
        <p:spPr>
          <a:xfrm>
            <a:off x="9348397" y="194066"/>
            <a:ext cx="2334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Это сводит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ru-RU" dirty="0">
                <a:solidFill>
                  <a:srgbClr val="FF0000"/>
                </a:solidFill>
              </a:rPr>
              <a:t>тоимость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reusable boilerplate code </a:t>
            </a:r>
            <a:r>
              <a:rPr lang="ru-RU" dirty="0">
                <a:solidFill>
                  <a:srgbClr val="FF0000"/>
                </a:solidFill>
              </a:rPr>
              <a:t>к минимуму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115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C9B1E-7963-91C5-CAE1-00AE9F980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4FFC7-94AC-127E-B519-BBBBF86E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271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ZEMI Platform</a:t>
            </a:r>
          </a:p>
        </p:txBody>
      </p:sp>
    </p:spTree>
    <p:extLst>
      <p:ext uri="{BB962C8B-B14F-4D97-AF65-F5344CB8AC3E}">
        <p14:creationId xmlns:p14="http://schemas.microsoft.com/office/powerpoint/2010/main" val="52638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51E0B-F9B0-190A-4686-C3FAA40D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8D1BA8-8682-3F1F-01E1-0E02F5DB5D2C}"/>
              </a:ext>
            </a:extLst>
          </p:cNvPr>
          <p:cNvSpPr/>
          <p:nvPr/>
        </p:nvSpPr>
        <p:spPr>
          <a:xfrm>
            <a:off x="602428" y="1483617"/>
            <a:ext cx="8337177" cy="3980373"/>
          </a:xfrm>
          <a:prstGeom prst="roundRect">
            <a:avLst>
              <a:gd name="adj" fmla="val 10514"/>
            </a:avLst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ru-RU" sz="2400" b="1" dirty="0">
              <a:solidFill>
                <a:schemeClr val="tx2"/>
              </a:solidFill>
            </a:endParaRPr>
          </a:p>
          <a:p>
            <a:pPr algn="ctr"/>
            <a:endParaRPr lang="en-US" sz="2400" b="1" dirty="0">
              <a:solidFill>
                <a:schemeClr val="tx2"/>
              </a:solidFill>
            </a:endParaRPr>
          </a:p>
          <a:p>
            <a:pPr algn="ctr"/>
            <a:endParaRPr lang="en-US" sz="2400" b="1" dirty="0">
              <a:solidFill>
                <a:schemeClr val="tx2"/>
              </a:solidFill>
            </a:endParaRPr>
          </a:p>
          <a:p>
            <a:pPr algn="ctr"/>
            <a:endParaRPr lang="en-US" sz="2400" b="1" dirty="0">
              <a:solidFill>
                <a:schemeClr val="tx2"/>
              </a:solidFill>
            </a:endParaRPr>
          </a:p>
          <a:p>
            <a:pPr algn="ctr"/>
            <a:endParaRPr lang="en-US" sz="2400" b="1" dirty="0">
              <a:solidFill>
                <a:schemeClr val="tx2"/>
              </a:solidFill>
            </a:endParaRPr>
          </a:p>
          <a:p>
            <a:pPr algn="ctr"/>
            <a:endParaRPr lang="en-US" sz="2400" b="1" dirty="0">
              <a:solidFill>
                <a:schemeClr val="tx2"/>
              </a:solidFill>
            </a:endParaRPr>
          </a:p>
          <a:p>
            <a:pPr algn="ctr"/>
            <a:r>
              <a:rPr lang="en-US" sz="2400" b="1" dirty="0">
                <a:solidFill>
                  <a:schemeClr val="tx2"/>
                </a:solidFill>
              </a:rPr>
              <a:t>ZEMI Instance</a:t>
            </a: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r>
              <a:rPr lang="en-US" dirty="0"/>
              <a:t>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63E7FF-2BC3-6CE2-14D1-B5D2BFE79F6D}"/>
              </a:ext>
            </a:extLst>
          </p:cNvPr>
          <p:cNvSpPr/>
          <p:nvPr/>
        </p:nvSpPr>
        <p:spPr>
          <a:xfrm>
            <a:off x="848108" y="3075537"/>
            <a:ext cx="7904448" cy="1830536"/>
          </a:xfrm>
          <a:prstGeom prst="roundRect">
            <a:avLst>
              <a:gd name="adj" fmla="val 1989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/>
              <a:t>ZEMI Instance Env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F6F61E-1A15-A6BE-40C9-215E933C1B0C}"/>
              </a:ext>
            </a:extLst>
          </p:cNvPr>
          <p:cNvSpPr/>
          <p:nvPr/>
        </p:nvSpPr>
        <p:spPr>
          <a:xfrm>
            <a:off x="602428" y="5718368"/>
            <a:ext cx="8498540" cy="1068396"/>
          </a:xfrm>
          <a:prstGeom prst="roundRect">
            <a:avLst>
              <a:gd name="adj" fmla="val 3492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ZEMI PLATFORM – c</a:t>
            </a:r>
            <a:r>
              <a:rPr lang="ru-RU" dirty="0"/>
              <a:t>редства разработки</a:t>
            </a:r>
            <a:r>
              <a:rPr lang="en-US" dirty="0"/>
              <a:t>, </a:t>
            </a:r>
            <a:r>
              <a:rPr lang="ru-RU" dirty="0"/>
              <a:t>запуска </a:t>
            </a:r>
            <a:r>
              <a:rPr lang="en-US" dirty="0"/>
              <a:t>ZEMI APPS (Portable Apps) </a:t>
            </a:r>
            <a:r>
              <a:rPr lang="ru-RU" dirty="0"/>
              <a:t>в </a:t>
            </a:r>
            <a:r>
              <a:rPr lang="en-US" dirty="0"/>
              <a:t>dev </a:t>
            </a:r>
            <a:r>
              <a:rPr lang="ru-RU" dirty="0"/>
              <a:t>и </a:t>
            </a:r>
            <a:r>
              <a:rPr lang="en-US" dirty="0"/>
              <a:t>prod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58EC08-DEC8-F7B0-B247-3D15E6A5614F}"/>
              </a:ext>
            </a:extLst>
          </p:cNvPr>
          <p:cNvSpPr/>
          <p:nvPr/>
        </p:nvSpPr>
        <p:spPr>
          <a:xfrm>
            <a:off x="1124175" y="1737994"/>
            <a:ext cx="1024128" cy="8138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ZEMI Component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F9D862-C280-7209-E4D0-0683805CE6B9}"/>
              </a:ext>
            </a:extLst>
          </p:cNvPr>
          <p:cNvSpPr/>
          <p:nvPr/>
        </p:nvSpPr>
        <p:spPr>
          <a:xfrm>
            <a:off x="3995391" y="1737994"/>
            <a:ext cx="1024128" cy="8138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ZEMI Component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E2E308-9388-9623-82D7-036F02041122}"/>
              </a:ext>
            </a:extLst>
          </p:cNvPr>
          <p:cNvSpPr/>
          <p:nvPr/>
        </p:nvSpPr>
        <p:spPr>
          <a:xfrm>
            <a:off x="6603044" y="1746976"/>
            <a:ext cx="1024128" cy="8138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ZEMI Component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4B67D6-6646-94B8-78E5-691AA6B66DC7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148303" y="2144902"/>
            <a:ext cx="184708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107E04C-2103-D7D6-F94C-E6261012205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5019519" y="2144902"/>
            <a:ext cx="1583525" cy="89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9B86D44-3BAA-1FEE-7153-1CADB8BA0EAA}"/>
              </a:ext>
            </a:extLst>
          </p:cNvPr>
          <p:cNvSpPr txBox="1"/>
          <p:nvPr/>
        </p:nvSpPr>
        <p:spPr>
          <a:xfrm>
            <a:off x="4915170" y="1830719"/>
            <a:ext cx="1687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</a:t>
            </a:r>
          </a:p>
          <a:p>
            <a:pPr algn="ctr"/>
            <a:r>
              <a:rPr lang="en-US" dirty="0"/>
              <a:t>Structure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9E89D1-1247-052F-1D04-B297E44B5D1F}"/>
              </a:ext>
            </a:extLst>
          </p:cNvPr>
          <p:cNvSpPr txBox="1"/>
          <p:nvPr/>
        </p:nvSpPr>
        <p:spPr>
          <a:xfrm>
            <a:off x="2328494" y="1821736"/>
            <a:ext cx="1687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</a:t>
            </a:r>
          </a:p>
          <a:p>
            <a:pPr algn="ctr"/>
            <a:r>
              <a:rPr lang="en-US" dirty="0"/>
              <a:t>Structure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FD3F14-5F05-F8D0-E870-9B079DBBD771}"/>
              </a:ext>
            </a:extLst>
          </p:cNvPr>
          <p:cNvCxnSpPr>
            <a:cxnSpLocks/>
            <a:stCxn id="5" idx="2"/>
            <a:endCxn id="32" idx="2"/>
          </p:cNvCxnSpPr>
          <p:nvPr/>
        </p:nvCxnSpPr>
        <p:spPr>
          <a:xfrm flipH="1">
            <a:off x="1624900" y="2551810"/>
            <a:ext cx="11339" cy="46166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F37C065-7BEB-9BCE-AA70-BF1034502FF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507455" y="2551810"/>
            <a:ext cx="0" cy="63223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AC01DF-B546-DDE2-AA65-1960471FA014}"/>
              </a:ext>
            </a:extLst>
          </p:cNvPr>
          <p:cNvCxnSpPr>
            <a:cxnSpLocks/>
            <a:stCxn id="9" idx="2"/>
            <a:endCxn id="36" idx="2"/>
          </p:cNvCxnSpPr>
          <p:nvPr/>
        </p:nvCxnSpPr>
        <p:spPr>
          <a:xfrm>
            <a:off x="7115108" y="2560792"/>
            <a:ext cx="0" cy="452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1CBF786-50C2-8FE9-989E-4A8572CFA4DC}"/>
              </a:ext>
            </a:extLst>
          </p:cNvPr>
          <p:cNvSpPr txBox="1"/>
          <p:nvPr/>
        </p:nvSpPr>
        <p:spPr>
          <a:xfrm>
            <a:off x="1332023" y="2644144"/>
            <a:ext cx="58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Env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979BDA-0D6F-E59D-5BE9-BCA96B01C782}"/>
              </a:ext>
            </a:extLst>
          </p:cNvPr>
          <p:cNvSpPr txBox="1"/>
          <p:nvPr/>
        </p:nvSpPr>
        <p:spPr>
          <a:xfrm>
            <a:off x="4232552" y="2634562"/>
            <a:ext cx="58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Env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58063A-E691-7255-DE15-41FC3A0DC0FB}"/>
              </a:ext>
            </a:extLst>
          </p:cNvPr>
          <p:cNvSpPr txBox="1"/>
          <p:nvPr/>
        </p:nvSpPr>
        <p:spPr>
          <a:xfrm>
            <a:off x="6822231" y="2644144"/>
            <a:ext cx="58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Env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5198CD-6994-3D6E-AEB4-840D6A18E854}"/>
              </a:ext>
            </a:extLst>
          </p:cNvPr>
          <p:cNvSpPr txBox="1"/>
          <p:nvPr/>
        </p:nvSpPr>
        <p:spPr>
          <a:xfrm>
            <a:off x="9875520" y="4511590"/>
            <a:ext cx="20331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Это сводит </a:t>
            </a:r>
            <a:br>
              <a:rPr lang="ru-RU" dirty="0">
                <a:solidFill>
                  <a:srgbClr val="FF0000"/>
                </a:solidFill>
              </a:rPr>
            </a:b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ru-RU" dirty="0">
                <a:solidFill>
                  <a:srgbClr val="FF0000"/>
                </a:solidFill>
              </a:rPr>
              <a:t>С</a:t>
            </a:r>
            <a:r>
              <a:rPr lang="en-US" dirty="0">
                <a:solidFill>
                  <a:srgbClr val="FF0000"/>
                </a:solidFill>
              </a:rPr>
              <a:t>I/CD </a:t>
            </a:r>
            <a:r>
              <a:rPr lang="ru-RU" dirty="0">
                <a:solidFill>
                  <a:srgbClr val="FF0000"/>
                </a:solidFill>
              </a:rPr>
              <a:t>к минимуму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2. </a:t>
            </a:r>
            <a:r>
              <a:rPr lang="ru-RU" dirty="0">
                <a:solidFill>
                  <a:srgbClr val="FF0000"/>
                </a:solidFill>
              </a:rPr>
              <a:t>Настройку инстурментов к минимуму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B71A7D4-3565-9803-92D9-79BC4EA5ABDF}"/>
              </a:ext>
            </a:extLst>
          </p:cNvPr>
          <p:cNvSpPr/>
          <p:nvPr/>
        </p:nvSpPr>
        <p:spPr>
          <a:xfrm>
            <a:off x="3459659" y="155055"/>
            <a:ext cx="1958967" cy="8138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ZEMI Lib + Component Template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21649BF-A0D2-A1CA-0005-726ED4C2668F}"/>
              </a:ext>
            </a:extLst>
          </p:cNvPr>
          <p:cNvCxnSpPr>
            <a:cxnSpLocks/>
          </p:cNvCxnSpPr>
          <p:nvPr/>
        </p:nvCxnSpPr>
        <p:spPr>
          <a:xfrm flipH="1">
            <a:off x="1636239" y="849854"/>
            <a:ext cx="1778776" cy="9808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2D643EC-6A51-E122-8F63-61753FBAFD2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4507455" y="976256"/>
            <a:ext cx="0" cy="76173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4FE776B-D3C1-71AE-76BC-35E2197672D7}"/>
              </a:ext>
            </a:extLst>
          </p:cNvPr>
          <p:cNvCxnSpPr>
            <a:cxnSpLocks/>
          </p:cNvCxnSpPr>
          <p:nvPr/>
        </p:nvCxnSpPr>
        <p:spPr>
          <a:xfrm>
            <a:off x="5292762" y="968871"/>
            <a:ext cx="1723018" cy="8528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C362F22-8539-CBE5-A847-85CF7BF0590C}"/>
              </a:ext>
            </a:extLst>
          </p:cNvPr>
          <p:cNvSpPr txBox="1"/>
          <p:nvPr/>
        </p:nvSpPr>
        <p:spPr>
          <a:xfrm>
            <a:off x="1880708" y="982070"/>
            <a:ext cx="168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61BFD2-0014-E9E8-BF8D-F31A1B12BC92}"/>
              </a:ext>
            </a:extLst>
          </p:cNvPr>
          <p:cNvSpPr txBox="1"/>
          <p:nvPr/>
        </p:nvSpPr>
        <p:spPr>
          <a:xfrm>
            <a:off x="5019519" y="961754"/>
            <a:ext cx="168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699CD8-5B18-8C0B-A5A0-EA55C4209788}"/>
              </a:ext>
            </a:extLst>
          </p:cNvPr>
          <p:cNvSpPr txBox="1"/>
          <p:nvPr/>
        </p:nvSpPr>
        <p:spPr>
          <a:xfrm>
            <a:off x="9057941" y="223090"/>
            <a:ext cx="2334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Это сводит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ru-RU" dirty="0">
                <a:solidFill>
                  <a:srgbClr val="FF0000"/>
                </a:solidFill>
              </a:rPr>
              <a:t>тоимость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boilerplate code </a:t>
            </a:r>
            <a:r>
              <a:rPr lang="ru-RU" dirty="0">
                <a:solidFill>
                  <a:srgbClr val="FF0000"/>
                </a:solidFill>
              </a:rPr>
              <a:t>к минимуму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4C6F3ED-84E8-E3AF-AA1E-0E035390BEAD}"/>
              </a:ext>
            </a:extLst>
          </p:cNvPr>
          <p:cNvCxnSpPr>
            <a:cxnSpLocks/>
          </p:cNvCxnSpPr>
          <p:nvPr/>
        </p:nvCxnSpPr>
        <p:spPr>
          <a:xfrm>
            <a:off x="5418626" y="561963"/>
            <a:ext cx="3520979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6D234C5-6022-4F56-207F-9CC735EB4EAE}"/>
              </a:ext>
            </a:extLst>
          </p:cNvPr>
          <p:cNvCxnSpPr>
            <a:cxnSpLocks/>
          </p:cNvCxnSpPr>
          <p:nvPr/>
        </p:nvCxnSpPr>
        <p:spPr>
          <a:xfrm flipV="1">
            <a:off x="9100968" y="5626249"/>
            <a:ext cx="688491" cy="65155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8639F1-9752-6384-E8C0-5782D99B7316}"/>
              </a:ext>
            </a:extLst>
          </p:cNvPr>
          <p:cNvSpPr/>
          <p:nvPr/>
        </p:nvSpPr>
        <p:spPr>
          <a:xfrm>
            <a:off x="1112836" y="3766963"/>
            <a:ext cx="1024128" cy="8138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ZEMI Resource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E074A3-B04E-8AD0-6F17-8789ECC75464}"/>
              </a:ext>
            </a:extLst>
          </p:cNvPr>
          <p:cNvSpPr/>
          <p:nvPr/>
        </p:nvSpPr>
        <p:spPr>
          <a:xfrm>
            <a:off x="3095098" y="3766963"/>
            <a:ext cx="1024128" cy="8138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ZEMI Resource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D4F7C0-3D24-DF01-B7A3-D08420BED864}"/>
              </a:ext>
            </a:extLst>
          </p:cNvPr>
          <p:cNvSpPr/>
          <p:nvPr/>
        </p:nvSpPr>
        <p:spPr>
          <a:xfrm>
            <a:off x="5130143" y="3781857"/>
            <a:ext cx="1024128" cy="8138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ZEMI Resource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736C905-4313-B95B-7620-2826AEFD8118}"/>
              </a:ext>
            </a:extLst>
          </p:cNvPr>
          <p:cNvSpPr/>
          <p:nvPr/>
        </p:nvSpPr>
        <p:spPr>
          <a:xfrm>
            <a:off x="7015780" y="3766963"/>
            <a:ext cx="1024128" cy="8138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ZEMI Resource</a:t>
            </a:r>
          </a:p>
        </p:txBody>
      </p:sp>
    </p:spTree>
    <p:extLst>
      <p:ext uri="{BB962C8B-B14F-4D97-AF65-F5344CB8AC3E}">
        <p14:creationId xmlns:p14="http://schemas.microsoft.com/office/powerpoint/2010/main" val="2466743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5E4A-05DA-2D64-E1C6-070A5831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AE7D-3167-C5B0-C885-23004F33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271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ZEMI Platform Architecture</a:t>
            </a:r>
          </a:p>
        </p:txBody>
      </p:sp>
    </p:spTree>
    <p:extLst>
      <p:ext uri="{BB962C8B-B14F-4D97-AF65-F5344CB8AC3E}">
        <p14:creationId xmlns:p14="http://schemas.microsoft.com/office/powerpoint/2010/main" val="4251029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033B-3D44-DD10-F27E-B70B1993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B870-4C1C-1B4D-D21F-7498AA06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414" y="-103226"/>
            <a:ext cx="10515600" cy="1325563"/>
          </a:xfrm>
        </p:spPr>
        <p:txBody>
          <a:bodyPr/>
          <a:lstStyle/>
          <a:p>
            <a:r>
              <a:rPr lang="en-US" dirty="0"/>
              <a:t>ZEMI Platform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25BF37-19F9-B92E-1733-B2812A44E4C1}"/>
              </a:ext>
            </a:extLst>
          </p:cNvPr>
          <p:cNvSpPr/>
          <p:nvPr/>
        </p:nvSpPr>
        <p:spPr>
          <a:xfrm>
            <a:off x="3226033" y="2798238"/>
            <a:ext cx="4654293" cy="1084961"/>
          </a:xfrm>
          <a:prstGeom prst="roundRect">
            <a:avLst>
              <a:gd name="adj" fmla="val 102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ZEMI Instance </a:t>
            </a:r>
            <a:endParaRPr lang="ru-RU" b="1" dirty="0">
              <a:solidFill>
                <a:srgbClr val="FFC000"/>
              </a:solidFill>
            </a:endParaRPr>
          </a:p>
          <a:p>
            <a:pPr algn="ctr"/>
            <a:r>
              <a:rPr lang="en-US" dirty="0"/>
              <a:t>– </a:t>
            </a:r>
            <a:r>
              <a:rPr lang="ru-RU" dirty="0"/>
              <a:t>это папка для автономной работы</a:t>
            </a:r>
            <a:r>
              <a:rPr lang="en-US" dirty="0"/>
              <a:t> ZEMI components </a:t>
            </a:r>
            <a:r>
              <a:rPr lang="ru-RU" dirty="0"/>
              <a:t>и равзертывания </a:t>
            </a:r>
            <a:r>
              <a:rPr lang="en-US" dirty="0"/>
              <a:t>ZEMI apps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F43121-11D1-CF47-7230-724BFBBC5B10}"/>
              </a:ext>
            </a:extLst>
          </p:cNvPr>
          <p:cNvCxnSpPr>
            <a:cxnSpLocks/>
          </p:cNvCxnSpPr>
          <p:nvPr/>
        </p:nvCxnSpPr>
        <p:spPr>
          <a:xfrm>
            <a:off x="6861936" y="3922835"/>
            <a:ext cx="537882" cy="558816"/>
          </a:xfrm>
          <a:prstGeom prst="straightConnector1">
            <a:avLst/>
          </a:prstGeom>
          <a:ln>
            <a:headEnd type="diamond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651B905-200D-5EDE-8A0E-2A0EE2E1118B}"/>
              </a:ext>
            </a:extLst>
          </p:cNvPr>
          <p:cNvCxnSpPr>
            <a:cxnSpLocks/>
          </p:cNvCxnSpPr>
          <p:nvPr/>
        </p:nvCxnSpPr>
        <p:spPr>
          <a:xfrm flipH="1">
            <a:off x="3720703" y="3929712"/>
            <a:ext cx="258183" cy="580563"/>
          </a:xfrm>
          <a:prstGeom prst="straightConnector1">
            <a:avLst/>
          </a:prstGeom>
          <a:ln>
            <a:headEnd type="diamond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D83EE89-F440-FC8C-97C7-1C9F1243FF11}"/>
              </a:ext>
            </a:extLst>
          </p:cNvPr>
          <p:cNvSpPr/>
          <p:nvPr/>
        </p:nvSpPr>
        <p:spPr>
          <a:xfrm>
            <a:off x="2496145" y="4481651"/>
            <a:ext cx="2772718" cy="1398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ZEMI Component – GitHub Repo </a:t>
            </a:r>
            <a:r>
              <a:rPr lang="ru-RU" dirty="0"/>
              <a:t>сделанный по шаблону</a:t>
            </a:r>
            <a:endParaRPr lang="en-US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5C0D632-5B60-6E24-29C1-E5E2F46A5068}"/>
              </a:ext>
            </a:extLst>
          </p:cNvPr>
          <p:cNvSpPr/>
          <p:nvPr/>
        </p:nvSpPr>
        <p:spPr>
          <a:xfrm>
            <a:off x="2647648" y="4589547"/>
            <a:ext cx="2772718" cy="1398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ZEMI Component </a:t>
            </a:r>
            <a:endParaRPr lang="ru-RU" b="1" dirty="0">
              <a:solidFill>
                <a:srgbClr val="FFC000"/>
              </a:solidFill>
            </a:endParaRPr>
          </a:p>
          <a:p>
            <a:pPr algn="ctr"/>
            <a:r>
              <a:rPr lang="en-US" dirty="0"/>
              <a:t>–</a:t>
            </a:r>
            <a:r>
              <a:rPr lang="ru-RU" dirty="0"/>
              <a:t> </a:t>
            </a:r>
            <a:r>
              <a:rPr lang="en-US" dirty="0"/>
              <a:t>GitHub Repo </a:t>
            </a:r>
            <a:r>
              <a:rPr lang="ru-RU" dirty="0"/>
              <a:t>сделанный по шаблону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08070C-B158-6F80-1459-E1B42A1041BC}"/>
              </a:ext>
            </a:extLst>
          </p:cNvPr>
          <p:cNvSpPr/>
          <p:nvPr/>
        </p:nvSpPr>
        <p:spPr>
          <a:xfrm>
            <a:off x="6639633" y="4481651"/>
            <a:ext cx="2772718" cy="1398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ZEMI Component – GitHub Repo </a:t>
            </a:r>
            <a:r>
              <a:rPr lang="ru-RU" dirty="0"/>
              <a:t>сделанный по шаблону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3C337-441F-78D3-074A-48FC650C6C74}"/>
              </a:ext>
            </a:extLst>
          </p:cNvPr>
          <p:cNvSpPr/>
          <p:nvPr/>
        </p:nvSpPr>
        <p:spPr>
          <a:xfrm>
            <a:off x="6771636" y="4589547"/>
            <a:ext cx="2772718" cy="1398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ZEMI Resource</a:t>
            </a:r>
          </a:p>
        </p:txBody>
      </p:sp>
    </p:spTree>
    <p:extLst>
      <p:ext uri="{BB962C8B-B14F-4D97-AF65-F5344CB8AC3E}">
        <p14:creationId xmlns:p14="http://schemas.microsoft.com/office/powerpoint/2010/main" val="2913942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5BA4A17-7D9B-548A-A048-C8B8BAD20D30}"/>
              </a:ext>
            </a:extLst>
          </p:cNvPr>
          <p:cNvSpPr/>
          <p:nvPr/>
        </p:nvSpPr>
        <p:spPr>
          <a:xfrm>
            <a:off x="358260" y="3428607"/>
            <a:ext cx="4178176" cy="3273014"/>
          </a:xfrm>
          <a:prstGeom prst="roundRect">
            <a:avLst>
              <a:gd name="adj" fmla="val 1140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ZEMI App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C3DC207-DA0E-A37F-5D24-C612580DC4E2}"/>
              </a:ext>
            </a:extLst>
          </p:cNvPr>
          <p:cNvSpPr/>
          <p:nvPr/>
        </p:nvSpPr>
        <p:spPr>
          <a:xfrm>
            <a:off x="4913682" y="3377901"/>
            <a:ext cx="6952003" cy="3273014"/>
          </a:xfrm>
          <a:prstGeom prst="roundRect">
            <a:avLst>
              <a:gd name="adj" fmla="val 1140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ZEMI Instance Env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943B3-0599-D843-53CD-090BCB4A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038" y="201969"/>
            <a:ext cx="8535296" cy="1325563"/>
          </a:xfrm>
        </p:spPr>
        <p:txBody>
          <a:bodyPr/>
          <a:lstStyle/>
          <a:p>
            <a:r>
              <a:rPr lang="en-US" dirty="0"/>
              <a:t>ZEMI Platform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C3E178-CF11-C72A-52AC-D63CE17426E6}"/>
              </a:ext>
            </a:extLst>
          </p:cNvPr>
          <p:cNvSpPr/>
          <p:nvPr/>
        </p:nvSpPr>
        <p:spPr>
          <a:xfrm>
            <a:off x="2586535" y="1667582"/>
            <a:ext cx="4654293" cy="1084961"/>
          </a:xfrm>
          <a:prstGeom prst="roundRect">
            <a:avLst>
              <a:gd name="adj" fmla="val 102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ZEMI Instance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3175CB-1B0B-E8CB-8656-566568F63AE3}"/>
              </a:ext>
            </a:extLst>
          </p:cNvPr>
          <p:cNvCxnSpPr>
            <a:cxnSpLocks/>
          </p:cNvCxnSpPr>
          <p:nvPr/>
        </p:nvCxnSpPr>
        <p:spPr>
          <a:xfrm>
            <a:off x="5378824" y="2841167"/>
            <a:ext cx="1402982" cy="536734"/>
          </a:xfrm>
          <a:prstGeom prst="straightConnector1">
            <a:avLst/>
          </a:prstGeom>
          <a:ln>
            <a:headEnd type="diamond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9D47BB-E82B-6AE3-F49A-0957464CC344}"/>
              </a:ext>
            </a:extLst>
          </p:cNvPr>
          <p:cNvSpPr/>
          <p:nvPr/>
        </p:nvSpPr>
        <p:spPr>
          <a:xfrm>
            <a:off x="6715035" y="3857654"/>
            <a:ext cx="1897960" cy="6990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ZEMI Resource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C9BC42-5133-60FB-0B91-7ECEE23BD656}"/>
              </a:ext>
            </a:extLst>
          </p:cNvPr>
          <p:cNvSpPr/>
          <p:nvPr/>
        </p:nvSpPr>
        <p:spPr>
          <a:xfrm>
            <a:off x="5104743" y="5157761"/>
            <a:ext cx="1366222" cy="83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tmp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7492EA-C9B7-7643-868E-1B5A7D97A291}"/>
              </a:ext>
            </a:extLst>
          </p:cNvPr>
          <p:cNvSpPr/>
          <p:nvPr/>
        </p:nvSpPr>
        <p:spPr>
          <a:xfrm>
            <a:off x="6858869" y="5157761"/>
            <a:ext cx="1366222" cy="83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llamas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304E11-BDF6-09D3-091D-1D2ADC402FDC}"/>
              </a:ext>
            </a:extLst>
          </p:cNvPr>
          <p:cNvSpPr/>
          <p:nvPr/>
        </p:nvSpPr>
        <p:spPr>
          <a:xfrm>
            <a:off x="8612995" y="5157761"/>
            <a:ext cx="1366222" cy="83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1EE3CA9-C8A9-9B0E-7798-4E0C278C72F3}"/>
              </a:ext>
            </a:extLst>
          </p:cNvPr>
          <p:cNvSpPr/>
          <p:nvPr/>
        </p:nvSpPr>
        <p:spPr>
          <a:xfrm>
            <a:off x="10282223" y="5157761"/>
            <a:ext cx="1366222" cy="83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A0DF6B-A383-EE35-DDA5-4F5A44555903}"/>
              </a:ext>
            </a:extLst>
          </p:cNvPr>
          <p:cNvCxnSpPr>
            <a:cxnSpLocks/>
          </p:cNvCxnSpPr>
          <p:nvPr/>
        </p:nvCxnSpPr>
        <p:spPr>
          <a:xfrm flipH="1" flipV="1">
            <a:off x="8612995" y="4472232"/>
            <a:ext cx="2352339" cy="699083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A3E47E1-A1BE-72B8-1591-9345FD5533D7}"/>
              </a:ext>
            </a:extLst>
          </p:cNvPr>
          <p:cNvCxnSpPr>
            <a:cxnSpLocks/>
          </p:cNvCxnSpPr>
          <p:nvPr/>
        </p:nvCxnSpPr>
        <p:spPr>
          <a:xfrm flipH="1" flipV="1">
            <a:off x="8124855" y="4569161"/>
            <a:ext cx="661879" cy="601024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4ABC98-F81A-6628-0CCB-C0F96E874002}"/>
              </a:ext>
            </a:extLst>
          </p:cNvPr>
          <p:cNvCxnSpPr>
            <a:cxnSpLocks/>
            <a:stCxn id="7" idx="0"/>
            <a:endCxn id="15" idx="2"/>
          </p:cNvCxnSpPr>
          <p:nvPr/>
        </p:nvCxnSpPr>
        <p:spPr>
          <a:xfrm flipV="1">
            <a:off x="7541980" y="4556737"/>
            <a:ext cx="122035" cy="601024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B78D9EA-00D7-2A0C-8DBB-27EF37C6D872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787854" y="4503163"/>
            <a:ext cx="951886" cy="654598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8B8397-640C-C902-5B58-19F4F89953FA}"/>
              </a:ext>
            </a:extLst>
          </p:cNvPr>
          <p:cNvCxnSpPr>
            <a:cxnSpLocks/>
          </p:cNvCxnSpPr>
          <p:nvPr/>
        </p:nvCxnSpPr>
        <p:spPr>
          <a:xfrm flipH="1">
            <a:off x="2237591" y="2841167"/>
            <a:ext cx="884750" cy="587440"/>
          </a:xfrm>
          <a:prstGeom prst="straightConnector1">
            <a:avLst/>
          </a:prstGeom>
          <a:ln>
            <a:headEnd type="diamond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EC09D12-A2B4-302C-0D3D-365F525F796F}"/>
              </a:ext>
            </a:extLst>
          </p:cNvPr>
          <p:cNvSpPr/>
          <p:nvPr/>
        </p:nvSpPr>
        <p:spPr>
          <a:xfrm>
            <a:off x="706497" y="4207195"/>
            <a:ext cx="2772718" cy="1398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ZEMI Component – GitHub Repo </a:t>
            </a:r>
            <a:r>
              <a:rPr lang="ru-RU" dirty="0"/>
              <a:t>сделанный по шаблону</a:t>
            </a:r>
            <a:endParaRPr lang="en-US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9EBB93C-DF74-1FC4-C9E7-101BC560FA67}"/>
              </a:ext>
            </a:extLst>
          </p:cNvPr>
          <p:cNvSpPr/>
          <p:nvPr/>
        </p:nvSpPr>
        <p:spPr>
          <a:xfrm>
            <a:off x="858000" y="4365797"/>
            <a:ext cx="2772718" cy="13986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ZEMI Component </a:t>
            </a:r>
          </a:p>
        </p:txBody>
      </p:sp>
    </p:spTree>
    <p:extLst>
      <p:ext uri="{BB962C8B-B14F-4D97-AF65-F5344CB8AC3E}">
        <p14:creationId xmlns:p14="http://schemas.microsoft.com/office/powerpoint/2010/main" val="1451589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C8BE-1479-5A68-6473-1C3CA6BD0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18255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accent2"/>
                </a:solidFill>
              </a:rPr>
              <a:t>Идеальный результат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C6BA5-1C30-5DF3-D631-CB77678A8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179576"/>
            <a:ext cx="10988040" cy="4997387"/>
          </a:xfrm>
        </p:spPr>
        <p:txBody>
          <a:bodyPr/>
          <a:lstStyle/>
          <a:p>
            <a:r>
              <a:rPr lang="en-US" b="1" dirty="0"/>
              <a:t>5 </a:t>
            </a:r>
            <a:r>
              <a:rPr lang="ru-RU" b="1" dirty="0"/>
              <a:t>мин</a:t>
            </a:r>
            <a:r>
              <a:rPr lang="en-US" b="1" dirty="0"/>
              <a:t> Dev</a:t>
            </a:r>
            <a:r>
              <a:rPr lang="en-US" dirty="0"/>
              <a:t>.</a:t>
            </a:r>
            <a:r>
              <a:rPr lang="ru-RU" dirty="0"/>
              <a:t> с нуля (за исключением скачивания</a:t>
            </a:r>
            <a:r>
              <a:rPr lang="en-US" dirty="0"/>
              <a:t> </a:t>
            </a:r>
            <a:r>
              <a:rPr lang="ru-RU" dirty="0"/>
              <a:t>и архивирования) стартовать разработку </a:t>
            </a:r>
            <a:r>
              <a:rPr lang="en-US" dirty="0"/>
              <a:t>ZEMI </a:t>
            </a:r>
            <a:r>
              <a:rPr lang="ru-RU" dirty="0"/>
              <a:t>С</a:t>
            </a:r>
            <a:r>
              <a:rPr lang="en-US" dirty="0" err="1"/>
              <a:t>omponent</a:t>
            </a:r>
            <a:endParaRPr lang="ru-RU" dirty="0"/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Скачать </a:t>
            </a:r>
            <a:r>
              <a:rPr lang="en-US" dirty="0"/>
              <a:t>VM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</a:t>
            </a:r>
            <a:r>
              <a:rPr lang="ru-RU" dirty="0"/>
              <a:t>оздать </a:t>
            </a:r>
            <a:r>
              <a:rPr lang="en-US" dirty="0"/>
              <a:t>ZEMI instance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Настроить </a:t>
            </a:r>
            <a:r>
              <a:rPr lang="en-US" dirty="0" err="1"/>
              <a:t>VSCode</a:t>
            </a:r>
            <a:r>
              <a:rPr lang="en-US" dirty="0"/>
              <a:t> + </a:t>
            </a:r>
            <a:r>
              <a:rPr lang="en-US" dirty="0" err="1"/>
              <a:t>WinPython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</a:t>
            </a:r>
            <a:r>
              <a:rPr lang="ru-RU" dirty="0"/>
              <a:t>оздать и запустить </a:t>
            </a:r>
            <a:r>
              <a:rPr lang="en-US" dirty="0"/>
              <a:t>ZEMI Component </a:t>
            </a:r>
            <a:r>
              <a:rPr lang="ru-RU" dirty="0"/>
              <a:t>на базе шаблона</a:t>
            </a:r>
            <a:endParaRPr lang="en-US" dirty="0"/>
          </a:p>
          <a:p>
            <a:r>
              <a:rPr lang="en-US" b="1" dirty="0"/>
              <a:t>5 </a:t>
            </a:r>
            <a:r>
              <a:rPr lang="ru-RU" b="1" dirty="0"/>
              <a:t>мин </a:t>
            </a:r>
            <a:r>
              <a:rPr lang="en-US" b="1" dirty="0"/>
              <a:t>Prod</a:t>
            </a:r>
            <a:r>
              <a:rPr lang="en-US" dirty="0"/>
              <a:t>. </a:t>
            </a:r>
            <a:r>
              <a:rPr lang="ru-RU" dirty="0"/>
              <a:t>С нуля без инета (за исключением скачивания</a:t>
            </a:r>
            <a:r>
              <a:rPr lang="en-US" dirty="0"/>
              <a:t> </a:t>
            </a:r>
            <a:r>
              <a:rPr lang="ru-RU" dirty="0"/>
              <a:t>и архивирования) стартовать </a:t>
            </a:r>
            <a:r>
              <a:rPr lang="en-US" dirty="0"/>
              <a:t>Zemi App</a:t>
            </a:r>
          </a:p>
          <a:p>
            <a:pPr lvl="1"/>
            <a:r>
              <a:rPr lang="ru-RU" dirty="0"/>
              <a:t>Подготовить и скопировать </a:t>
            </a:r>
            <a:r>
              <a:rPr lang="en-US" dirty="0"/>
              <a:t>Portable ZEMI instance</a:t>
            </a:r>
            <a:r>
              <a:rPr lang="ru-RU" dirty="0"/>
              <a:t> на целевой </a:t>
            </a:r>
            <a:r>
              <a:rPr lang="en-US" dirty="0"/>
              <a:t>Desktop (</a:t>
            </a:r>
            <a:r>
              <a:rPr lang="ru-RU" dirty="0"/>
              <a:t> </a:t>
            </a:r>
            <a:r>
              <a:rPr lang="en-US" dirty="0"/>
              <a:t>ZEMI Apps </a:t>
            </a:r>
            <a:r>
              <a:rPr lang="ru-RU" dirty="0"/>
              <a:t>и</a:t>
            </a:r>
            <a:r>
              <a:rPr lang="en-US" dirty="0"/>
              <a:t> ZEMI Instance Env)</a:t>
            </a:r>
            <a:r>
              <a:rPr lang="ru-RU" dirty="0"/>
              <a:t> </a:t>
            </a:r>
            <a:endParaRPr lang="en-US" dirty="0"/>
          </a:p>
          <a:p>
            <a:pPr lvl="1"/>
            <a:r>
              <a:rPr lang="ru-RU" dirty="0"/>
              <a:t>Подготовить и скопировать </a:t>
            </a:r>
            <a:r>
              <a:rPr lang="en-US" dirty="0"/>
              <a:t>Portable </a:t>
            </a:r>
            <a:r>
              <a:rPr lang="en-US" dirty="0" err="1"/>
              <a:t>Vscode</a:t>
            </a:r>
            <a:r>
              <a:rPr lang="en-US" dirty="0"/>
              <a:t> </a:t>
            </a:r>
            <a:r>
              <a:rPr lang="ru-RU" dirty="0"/>
              <a:t>на целевой </a:t>
            </a:r>
            <a:r>
              <a:rPr lang="en-US" dirty="0"/>
              <a:t>Desktop  </a:t>
            </a:r>
            <a:r>
              <a:rPr lang="ru-RU" dirty="0"/>
              <a:t>и присоединить его с </a:t>
            </a:r>
            <a:r>
              <a:rPr lang="en-US" dirty="0" err="1"/>
              <a:t>WinPython</a:t>
            </a:r>
            <a:r>
              <a:rPr lang="en-US" dirty="0"/>
              <a:t> </a:t>
            </a:r>
            <a:r>
              <a:rPr lang="ru-RU" dirty="0"/>
              <a:t>внутри </a:t>
            </a:r>
            <a:r>
              <a:rPr lang="en-US" dirty="0"/>
              <a:t>ZEMI instance 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551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7F16-4C8E-4B88-B007-45ED3DA3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2"/>
                </a:solidFill>
              </a:rPr>
              <a:t>Где что лежит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1347A-8614-251E-1F15-8FF33DE3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4724" y="1825625"/>
            <a:ext cx="7169075" cy="4351338"/>
          </a:xfrm>
        </p:spPr>
        <p:txBody>
          <a:bodyPr/>
          <a:lstStyle/>
          <a:p>
            <a:r>
              <a:rPr lang="en-US" dirty="0"/>
              <a:t>ZEMI – </a:t>
            </a:r>
            <a:r>
              <a:rPr lang="ru-RU" dirty="0"/>
              <a:t>любая папка непосредственно в которой находится один из двух файлов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zemiinst_dev</a:t>
            </a:r>
            <a:r>
              <a:rPr lang="ru-RU" dirty="0"/>
              <a:t> – для </a:t>
            </a:r>
            <a:r>
              <a:rPr lang="en-US" dirty="0"/>
              <a:t>ZEMI </a:t>
            </a:r>
            <a:r>
              <a:rPr lang="ru-RU" dirty="0"/>
              <a:t>папки для разработки</a:t>
            </a:r>
            <a:endParaRPr lang="en-US" dirty="0"/>
          </a:p>
          <a:p>
            <a:pPr lvl="1"/>
            <a:r>
              <a:rPr lang="en-US" dirty="0"/>
              <a:t>.</a:t>
            </a:r>
            <a:r>
              <a:rPr lang="en-US" dirty="0" err="1"/>
              <a:t>zemiinst_prod</a:t>
            </a:r>
            <a:r>
              <a:rPr lang="ru-RU" dirty="0"/>
              <a:t> – для </a:t>
            </a:r>
            <a:r>
              <a:rPr lang="en-US" dirty="0"/>
              <a:t>ZEMI </a:t>
            </a:r>
            <a:r>
              <a:rPr lang="ru-RU" dirty="0"/>
              <a:t>папки у пользователя</a:t>
            </a:r>
          </a:p>
          <a:p>
            <a:r>
              <a:rPr lang="en-US" dirty="0"/>
              <a:t>ZEMI component – </a:t>
            </a:r>
            <a:r>
              <a:rPr lang="ru-RU" dirty="0"/>
              <a:t>любая папка непосредственно в которой находится файл </a:t>
            </a:r>
            <a:r>
              <a:rPr lang="en-US" dirty="0"/>
              <a:t>.</a:t>
            </a:r>
            <a:r>
              <a:rPr lang="en-US" dirty="0" err="1"/>
              <a:t>zemicom</a:t>
            </a:r>
            <a:endParaRPr lang="ru-RU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A02425-ACEF-1617-D3E7-D32E1F18A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68" y="2145399"/>
            <a:ext cx="3074332" cy="306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5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40C67-9989-8DE0-1F36-B34FA147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35EA7-9398-3AF1-FB85-34A72F4F6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271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ZEMI Platform POC</a:t>
            </a:r>
          </a:p>
        </p:txBody>
      </p:sp>
    </p:spTree>
    <p:extLst>
      <p:ext uri="{BB962C8B-B14F-4D97-AF65-F5344CB8AC3E}">
        <p14:creationId xmlns:p14="http://schemas.microsoft.com/office/powerpoint/2010/main" val="349724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392E-6E26-EAF9-969A-92955155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ZEMI </a:t>
            </a:r>
            <a:r>
              <a:rPr lang="en-US" dirty="0" err="1"/>
              <a:t>Intsnace</a:t>
            </a:r>
            <a:r>
              <a:rPr lang="en-US" dirty="0"/>
              <a:t> + .</a:t>
            </a:r>
            <a:r>
              <a:rPr lang="en-US" dirty="0" err="1"/>
              <a:t>zemiinst_dev</a:t>
            </a:r>
            <a:r>
              <a:rPr lang="en-US" dirty="0"/>
              <a:t>/ </a:t>
            </a:r>
            <a:r>
              <a:rPr lang="en-US" dirty="0" err="1"/>
              <a:t>zemiinst_prod</a:t>
            </a:r>
            <a:r>
              <a:rPr lang="en-US" dirty="0"/>
              <a:t> </a:t>
            </a:r>
            <a:r>
              <a:rPr lang="ru-RU" dirty="0"/>
              <a:t>файл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A43400-19C2-EAA5-0BD7-FCB28EB81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592" y="1690688"/>
            <a:ext cx="7191375" cy="2000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A9CA45-7ECC-5A82-5096-DFA12BC40B5D}"/>
              </a:ext>
            </a:extLst>
          </p:cNvPr>
          <p:cNvSpPr txBox="1"/>
          <p:nvPr/>
        </p:nvSpPr>
        <p:spPr>
          <a:xfrm>
            <a:off x="6788075" y="3923702"/>
            <a:ext cx="4292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Должен быть способ быстро (</a:t>
            </a:r>
            <a:r>
              <a:rPr lang="ru-RU" dirty="0">
                <a:solidFill>
                  <a:schemeClr val="accent2"/>
                </a:solidFill>
              </a:rPr>
              <a:t>прямо в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ru-RU" dirty="0">
                <a:solidFill>
                  <a:schemeClr val="accent2"/>
                </a:solidFill>
              </a:rPr>
              <a:t>коде</a:t>
            </a:r>
            <a:r>
              <a:rPr lang="en-US" dirty="0">
                <a:solidFill>
                  <a:schemeClr val="accent2"/>
                </a:solidFill>
              </a:rPr>
              <a:t>?</a:t>
            </a:r>
            <a:r>
              <a:rPr lang="ru-RU" dirty="0"/>
              <a:t>) переключаться</a:t>
            </a:r>
            <a:r>
              <a:rPr lang="en-US" dirty="0"/>
              <a:t> </a:t>
            </a:r>
            <a:r>
              <a:rPr lang="en-US" dirty="0" err="1"/>
              <a:t>vscode</a:t>
            </a:r>
            <a:r>
              <a:rPr lang="en-US" dirty="0"/>
              <a:t>-</a:t>
            </a:r>
            <a:r>
              <a:rPr lang="ru-RU" dirty="0"/>
              <a:t>ом между </a:t>
            </a:r>
            <a:r>
              <a:rPr lang="en-US" dirty="0" err="1"/>
              <a:t>en</a:t>
            </a:r>
            <a:r>
              <a:rPr lang="ru-RU" dirty="0"/>
              <a:t>м-ами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D53AF-C87B-0EAA-73BD-66E5417F41E2}"/>
              </a:ext>
            </a:extLst>
          </p:cNvPr>
          <p:cNvSpPr txBox="1"/>
          <p:nvPr/>
        </p:nvSpPr>
        <p:spPr>
          <a:xfrm>
            <a:off x="6788075" y="5079796"/>
            <a:ext cx="4292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</a:t>
            </a:r>
            <a:r>
              <a:rPr lang="en-US" dirty="0"/>
              <a:t>dev </a:t>
            </a:r>
            <a:r>
              <a:rPr lang="ru-RU" dirty="0"/>
              <a:t>моде код должен уметь подкаичвать </a:t>
            </a:r>
            <a:r>
              <a:rPr lang="en-US" dirty="0"/>
              <a:t>llama, model </a:t>
            </a:r>
            <a:r>
              <a:rPr lang="ru-RU" dirty="0"/>
              <a:t>на автомате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665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6928-46EC-7DDA-F9D8-39ECDAA93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ZEMI Component + .</a:t>
            </a:r>
            <a:r>
              <a:rPr lang="en-US" dirty="0" err="1"/>
              <a:t>zemicomp</a:t>
            </a:r>
            <a:r>
              <a:rPr lang="en-US" dirty="0"/>
              <a:t> </a:t>
            </a:r>
            <a:r>
              <a:rPr lang="ru-RU" dirty="0"/>
              <a:t>файл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7F1E400-CEDD-C58B-AED5-EE8135F0C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1248" y="2063919"/>
            <a:ext cx="3562350" cy="3667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54D5DE-405A-6CE1-865C-A91BD1946CB3}"/>
              </a:ext>
            </a:extLst>
          </p:cNvPr>
          <p:cNvSpPr txBox="1"/>
          <p:nvPr/>
        </p:nvSpPr>
        <p:spPr>
          <a:xfrm>
            <a:off x="8455511" y="3897481"/>
            <a:ext cx="203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env.py</a:t>
            </a:r>
          </a:p>
        </p:txBody>
      </p:sp>
    </p:spTree>
    <p:extLst>
      <p:ext uri="{BB962C8B-B14F-4D97-AF65-F5344CB8AC3E}">
        <p14:creationId xmlns:p14="http://schemas.microsoft.com/office/powerpoint/2010/main" val="1641211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38DED-AD2F-5E56-18E3-91CA6683F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295017"/>
            <a:ext cx="10515600" cy="901920"/>
          </a:xfrm>
        </p:spPr>
        <p:txBody>
          <a:bodyPr/>
          <a:lstStyle/>
          <a:p>
            <a:r>
              <a:rPr lang="en-US" b="1" dirty="0" err="1">
                <a:solidFill>
                  <a:schemeClr val="accent2"/>
                </a:solidFill>
              </a:rPr>
              <a:t>VSCode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ru-RU" b="1" dirty="0">
                <a:solidFill>
                  <a:schemeClr val="accent2"/>
                </a:solidFill>
              </a:rPr>
              <a:t>интеграция с </a:t>
            </a:r>
            <a:r>
              <a:rPr lang="en-US" b="1" dirty="0">
                <a:solidFill>
                  <a:schemeClr val="accent2"/>
                </a:solidFill>
              </a:rPr>
              <a:t>AI tools (</a:t>
            </a:r>
            <a:r>
              <a:rPr lang="ru-RU" b="1" dirty="0">
                <a:solidFill>
                  <a:schemeClr val="accent2"/>
                </a:solidFill>
              </a:rPr>
              <a:t>Илья</a:t>
            </a:r>
            <a:r>
              <a:rPr lang="en-US" b="1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4E13C7-49CA-5139-8514-8C9DEE8B957C}"/>
              </a:ext>
            </a:extLst>
          </p:cNvPr>
          <p:cNvSpPr/>
          <p:nvPr/>
        </p:nvSpPr>
        <p:spPr>
          <a:xfrm>
            <a:off x="4148785" y="5502131"/>
            <a:ext cx="2141034" cy="1014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Папка с </a:t>
            </a:r>
            <a:r>
              <a:rPr lang="en-US" dirty="0"/>
              <a:t>Zemi Component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A40E42-0F49-89BA-E786-81B03F2DB259}"/>
              </a:ext>
            </a:extLst>
          </p:cNvPr>
          <p:cNvSpPr/>
          <p:nvPr/>
        </p:nvSpPr>
        <p:spPr>
          <a:xfrm>
            <a:off x="1561061" y="3548114"/>
            <a:ext cx="1839952" cy="814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Chat </a:t>
            </a:r>
            <a:r>
              <a:rPr lang="ru-RU" dirty="0"/>
              <a:t>для кодинга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457B24-6772-088D-7F3F-974A85AE379C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481037" y="4362153"/>
            <a:ext cx="1766075" cy="1139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C76716-FD39-5B12-1716-376E13785B29}"/>
              </a:ext>
            </a:extLst>
          </p:cNvPr>
          <p:cNvSpPr/>
          <p:nvPr/>
        </p:nvSpPr>
        <p:spPr>
          <a:xfrm>
            <a:off x="6350729" y="3640930"/>
            <a:ext cx="1839952" cy="814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VSCode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08DBCE-4F0C-B525-5B2E-D410D858B644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5962098" y="4454969"/>
            <a:ext cx="1308607" cy="1047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9E2E1D-CBA1-D87A-20A7-4F00F96C6892}"/>
              </a:ext>
            </a:extLst>
          </p:cNvPr>
          <p:cNvSpPr/>
          <p:nvPr/>
        </p:nvSpPr>
        <p:spPr>
          <a:xfrm>
            <a:off x="4041455" y="1617026"/>
            <a:ext cx="2141034" cy="1014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WinPython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297373-7D19-A519-6A85-5B3D23E451E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2481037" y="2563014"/>
            <a:ext cx="1560418" cy="985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329D0C-A4F3-AAD3-66CB-6FE0A415A120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6096000" y="2563014"/>
            <a:ext cx="1174705" cy="1077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C4FD48F-1289-08A2-44C5-535F9A37E90A}"/>
              </a:ext>
            </a:extLst>
          </p:cNvPr>
          <p:cNvSpPr txBox="1"/>
          <p:nvPr/>
        </p:nvSpPr>
        <p:spPr>
          <a:xfrm>
            <a:off x="2481037" y="2732399"/>
            <a:ext cx="291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Использует</a:t>
            </a:r>
            <a:r>
              <a:rPr lang="en-US" dirty="0"/>
              <a:t>, </a:t>
            </a:r>
            <a:r>
              <a:rPr lang="ru-RU" dirty="0"/>
              <a:t>быстро переключается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B22D83-6877-FDF6-DCC1-CF4CEEDC3BD3}"/>
              </a:ext>
            </a:extLst>
          </p:cNvPr>
          <p:cNvSpPr txBox="1"/>
          <p:nvPr/>
        </p:nvSpPr>
        <p:spPr>
          <a:xfrm>
            <a:off x="5894076" y="4836378"/>
            <a:ext cx="176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ru-RU" dirty="0"/>
              <a:t>мотрит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878ADF-C64E-E936-C14C-E2C7B0F223D4}"/>
              </a:ext>
            </a:extLst>
          </p:cNvPr>
          <p:cNvSpPr txBox="1"/>
          <p:nvPr/>
        </p:nvSpPr>
        <p:spPr>
          <a:xfrm>
            <a:off x="2941485" y="4806860"/>
            <a:ext cx="176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ru-RU" dirty="0"/>
              <a:t>мотрит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4259B0-9B26-FAD1-6CA8-E929EC57E981}"/>
              </a:ext>
            </a:extLst>
          </p:cNvPr>
          <p:cNvSpPr txBox="1"/>
          <p:nvPr/>
        </p:nvSpPr>
        <p:spPr>
          <a:xfrm>
            <a:off x="5565322" y="2777132"/>
            <a:ext cx="3855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Использует</a:t>
            </a:r>
            <a:r>
              <a:rPr lang="en-US" dirty="0"/>
              <a:t>, </a:t>
            </a:r>
            <a:r>
              <a:rPr lang="ru-RU" dirty="0"/>
              <a:t>быстро переключается</a:t>
            </a:r>
            <a:r>
              <a:rPr lang="en-US" dirty="0"/>
              <a:t> (PowerShell)</a:t>
            </a:r>
          </a:p>
        </p:txBody>
      </p:sp>
    </p:spTree>
    <p:extLst>
      <p:ext uri="{BB962C8B-B14F-4D97-AF65-F5344CB8AC3E}">
        <p14:creationId xmlns:p14="http://schemas.microsoft.com/office/powerpoint/2010/main" val="1448219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36E0-4615-D172-0159-67B8EB92B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562" y="2631688"/>
            <a:ext cx="2899316" cy="1393902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TODO: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269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8C4F-157B-5963-389F-81D20BFD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TODO: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2BCA4-7C12-BEED-1D0D-1EF2B1896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from zemi import exp</a:t>
            </a:r>
          </a:p>
          <a:p>
            <a:pPr marL="0" indent="0">
              <a:buNone/>
            </a:pPr>
            <a:r>
              <a:rPr lang="en-US" dirty="0" err="1"/>
              <a:t>exp.llama_prepare</a:t>
            </a:r>
            <a:r>
              <a:rPr lang="en-US" dirty="0"/>
              <a:t>(model</a:t>
            </a:r>
            <a:r>
              <a:rPr lang="ru-RU" dirty="0"/>
              <a:t>_</a:t>
            </a:r>
            <a:r>
              <a:rPr lang="en-US" dirty="0" err="1"/>
              <a:t>url</a:t>
            </a:r>
            <a:r>
              <a:rPr lang="en-US" dirty="0"/>
              <a:t>, </a:t>
            </a:r>
            <a:r>
              <a:rPr lang="en-US" dirty="0" err="1"/>
              <a:t>llama_ver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 кэш загружается версия </a:t>
            </a:r>
            <a:r>
              <a:rPr lang="en-US" dirty="0"/>
              <a:t>llama</a:t>
            </a:r>
            <a:r>
              <a:rPr lang="ru-RU" dirty="0"/>
              <a:t> и модель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Сравнивает шаблон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Пишет все шаги и прогресс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 err="1"/>
              <a:t>exp.llama_restart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exp.llama_stop</a:t>
            </a:r>
            <a:r>
              <a:rPr lang="en-US" dirty="0"/>
              <a:t>()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exp.llama_bench</a:t>
            </a:r>
            <a:r>
              <a:rPr lang="en-US" dirty="0"/>
              <a:t>()</a:t>
            </a:r>
            <a:br>
              <a:rPr lang="ru-RU" dirty="0"/>
            </a:br>
            <a:r>
              <a:rPr lang="en-US" dirty="0"/>
              <a:t>llama-bench.exe -m .\models\Qwen3.5-4B-Q4_K_M.gguf -t 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626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3317-211A-68B2-EFF8-55E2DB9E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TODO: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C7C1A-E49C-B4AC-9950-8C8208368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llama-bench.exe -m .\models\Qwen3.5-4B-Q4_K_M.gguf -t 4</a:t>
            </a:r>
          </a:p>
        </p:txBody>
      </p:sp>
    </p:spTree>
    <p:extLst>
      <p:ext uri="{BB962C8B-B14F-4D97-AF65-F5344CB8AC3E}">
        <p14:creationId xmlns:p14="http://schemas.microsoft.com/office/powerpoint/2010/main" val="635355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55F6-902B-8F1F-D119-4FEA6E6E1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9EAD9-0F7E-89A5-6B81-A7C2B7CE0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898316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661</Words>
  <Application>Microsoft Office PowerPoint</Application>
  <PresentationFormat>Widescreen</PresentationFormat>
  <Paragraphs>167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ZEMI Platform</vt:lpstr>
      <vt:lpstr>Где мы?</vt:lpstr>
      <vt:lpstr>Зачем?</vt:lpstr>
      <vt:lpstr>AI Platform</vt:lpstr>
      <vt:lpstr>PowerPoint Presentation</vt:lpstr>
      <vt:lpstr>ZEMI Platform</vt:lpstr>
      <vt:lpstr>PowerPoint Presentation</vt:lpstr>
      <vt:lpstr>ZEMI Platform Architecture</vt:lpstr>
      <vt:lpstr>ZEMI Platform Architecture</vt:lpstr>
      <vt:lpstr>ZEMI Platform Architecture</vt:lpstr>
      <vt:lpstr>Идеальный результат</vt:lpstr>
      <vt:lpstr>Где что лежит</vt:lpstr>
      <vt:lpstr>ZEMI Platform POC</vt:lpstr>
      <vt:lpstr>ZEMI Intsnace + .zemiinst_dev/ zemiinst_prod файл</vt:lpstr>
      <vt:lpstr>ZEMI Component + .zemicomp файл</vt:lpstr>
      <vt:lpstr>VSCode интеграция с AI tools (Илья)</vt:lpstr>
      <vt:lpstr>TODO:</vt:lpstr>
      <vt:lpstr>TODO:</vt:lpstr>
      <vt:lpstr>TODO: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DmitryLove</dc:creator>
  <cp:lastModifiedBy>DmitryLove</cp:lastModifiedBy>
  <cp:revision>19</cp:revision>
  <dcterms:created xsi:type="dcterms:W3CDTF">2026-07-25T17:40:17Z</dcterms:created>
  <dcterms:modified xsi:type="dcterms:W3CDTF">2026-07-27T16:50:12Z</dcterms:modified>
</cp:coreProperties>
</file>